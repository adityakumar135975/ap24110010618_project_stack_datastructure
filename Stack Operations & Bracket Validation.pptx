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294942"/>
            <a:ext cx="8001000" cy="1409700"/>
          </a:xfrm>
          <a:prstGeom prst="rect">
            <a:avLst/>
          </a:prstGeom>
          <a:noFill/>
          <a:ln w="15240">
            <a:solidFill>
              <a:srgbClr val="38BDF8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16154995"/>
            <a:ext cx="8001000" cy="1749266"/>
          </a:xfrm>
          <a:prstGeom prst="roundRect">
            <a:avLst>
              <a:gd name="adj" fmla="val 26137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47755611"/>
            <a:ext cx="8001000" cy="861536"/>
          </a:xfrm>
          <a:prstGeom prst="roundRect">
            <a:avLst>
              <a:gd name="adj" fmla="val 53068"/>
            </a:avLst>
          </a:prstGeom>
          <a:solidFill>
            <a:srgbClr val="020617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1500" y="49301521"/>
            <a:ext cx="8001000" cy="861536"/>
          </a:xfrm>
          <a:prstGeom prst="roundRect">
            <a:avLst>
              <a:gd name="adj" fmla="val 53068"/>
            </a:avLst>
          </a:prstGeom>
          <a:solidFill>
            <a:srgbClr val="020617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71500" y="762000"/>
            <a:ext cx="8001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760"/>
              </a:lnSpc>
              <a:buNone/>
            </a:pPr>
            <a:r>
              <a:rPr lang="en-US" sz="4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Operations &amp; Bracket Validation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91490" y="2320290"/>
            <a:ext cx="81610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 Data Structure Implementation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1490" y="3112770"/>
            <a:ext cx="8161020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8"/>
              </a:lnSpc>
              <a:buNone/>
            </a:pPr>
            <a:r>
              <a:rPr lang="en-US" sz="15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Aditya Kumar</a:t>
            </a:r>
            <a:endParaRPr lang="en-US" sz="1560" dirty="0"/>
          </a:p>
        </p:txBody>
      </p:sp>
      <p:sp>
        <p:nvSpPr>
          <p:cNvPr id="9" name="Text 7"/>
          <p:cNvSpPr/>
          <p:nvPr/>
        </p:nvSpPr>
        <p:spPr>
          <a:xfrm>
            <a:off x="491490" y="3612237"/>
            <a:ext cx="8161020" cy="301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76"/>
              </a:lnSpc>
              <a:buNone/>
            </a:pPr>
            <a:r>
              <a:rPr lang="en-US" sz="13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Enrollment: AP24110010618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491490" y="4691182"/>
            <a:ext cx="8161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 201: Coding Skill - 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1490" y="5060752"/>
            <a:ext cx="8161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SRM University--AP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1490" y="5430321"/>
            <a:ext cx="8161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December 2025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71500" y="7133392"/>
            <a:ext cx="8161020" cy="622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71500" y="8184952"/>
            <a:ext cx="8161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1: Stack Operations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57250" y="8459271"/>
            <a:ext cx="7715250" cy="1444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Menu-driven stack with push, pop, peek, display</a:t>
            </a:r>
            <a:endParaRPr lang="en-US" sz="1200" dirty="0"/>
          </a:p>
          <a:p>
            <a:pPr marL="342900" indent="-342900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empty/full status and size</a:t>
            </a:r>
            <a:endParaRPr lang="en-US" sz="1200" dirty="0"/>
          </a:p>
          <a:p>
            <a:pPr marL="342900" indent="-342900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Overflow/underflow protection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71500" y="10046614"/>
            <a:ext cx="8161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2: Bracket Validation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57250" y="10320933"/>
            <a:ext cx="7715250" cy="1444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 bracket sequences in expressions</a:t>
            </a:r>
            <a:endParaRPr lang="en-US" sz="1200" dirty="0"/>
          </a:p>
          <a:p>
            <a:pPr marL="342900" indent="-342900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(), [], {}</a:t>
            </a:r>
            <a:endParaRPr lang="en-US" sz="1200" dirty="0"/>
          </a:p>
          <a:p>
            <a:pPr marL="342900" indent="-342900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Detects syntax errors using stack matching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71500" y="13098899"/>
            <a:ext cx="8161020" cy="622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Stack?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571500" y="14150460"/>
            <a:ext cx="8161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LIFO: Last In, First Out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57250" y="14424779"/>
            <a:ext cx="7715250" cy="1444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element inserted is first to be removed</a:t>
            </a:r>
            <a:endParaRPr lang="en-US" sz="1200" dirty="0"/>
          </a:p>
          <a:p>
            <a:pPr marL="342900" indent="-342900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a stack of plates - add/remove from top</a:t>
            </a:r>
            <a:endParaRPr lang="en-US" sz="1200" dirty="0"/>
          </a:p>
          <a:p>
            <a:pPr marL="342900" indent="-342900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in function calls, undo operations, parsing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62000" y="16440745"/>
            <a:ext cx="7772400" cy="329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92"/>
              </a:lnSpc>
              <a:buNone/>
            </a:pPr>
            <a:r>
              <a:rPr lang="en-US" sz="14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= -1 → empty stack</a:t>
            </a:r>
            <a:endParaRPr lang="en-US" sz="1440" dirty="0"/>
          </a:p>
        </p:txBody>
      </p:sp>
      <p:sp>
        <p:nvSpPr>
          <p:cNvPr id="22" name="Text 20"/>
          <p:cNvSpPr/>
          <p:nvPr/>
        </p:nvSpPr>
        <p:spPr>
          <a:xfrm>
            <a:off x="762000" y="16865085"/>
            <a:ext cx="7772400" cy="329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92"/>
              </a:lnSpc>
              <a:buNone/>
            </a:pPr>
            <a:r>
              <a:rPr lang="en-US" sz="14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Push: top++, then insert</a:t>
            </a:r>
            <a:endParaRPr lang="en-US" sz="1440" dirty="0"/>
          </a:p>
        </p:txBody>
      </p:sp>
      <p:sp>
        <p:nvSpPr>
          <p:cNvPr id="23" name="Text 21"/>
          <p:cNvSpPr/>
          <p:nvPr/>
        </p:nvSpPr>
        <p:spPr>
          <a:xfrm>
            <a:off x="762000" y="17289423"/>
            <a:ext cx="7772400" cy="329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92"/>
              </a:lnSpc>
              <a:buNone/>
            </a:pPr>
            <a:r>
              <a:rPr lang="en-US" sz="14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Pop: remove, then top--</a:t>
            </a:r>
            <a:endParaRPr lang="en-US" sz="1440" dirty="0"/>
          </a:p>
        </p:txBody>
      </p:sp>
      <p:sp>
        <p:nvSpPr>
          <p:cNvPr id="24" name="Text 22"/>
          <p:cNvSpPr/>
          <p:nvPr/>
        </p:nvSpPr>
        <p:spPr>
          <a:xfrm>
            <a:off x="571500" y="19237762"/>
            <a:ext cx="8161020" cy="622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1: Stack Operations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571500" y="20289322"/>
            <a:ext cx="8161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 Implemented: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57250" y="20563642"/>
            <a:ext cx="7715250" cy="2774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80"/>
              </a:lnSpc>
              <a:buSzPct val="100000"/>
              <a:buChar char="•"/>
            </a:pPr>
            <a:r>
              <a:rPr lang="en-US" sz="144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push():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Add element, check if full</a:t>
            </a:r>
            <a:endParaRPr lang="en-US" sz="1200" dirty="0"/>
          </a:p>
          <a:p>
            <a:pPr marL="342900" indent="-342900">
              <a:lnSpc>
                <a:spcPts val="1680"/>
              </a:lnSpc>
              <a:buSzPct val="100000"/>
              <a:buChar char="•"/>
            </a:pPr>
            <a:r>
              <a:rPr lang="en-US" sz="144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pop():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Remove top element, check if empty</a:t>
            </a:r>
            <a:endParaRPr lang="en-US" sz="1200" dirty="0"/>
          </a:p>
          <a:p>
            <a:pPr marL="342900" indent="-342900">
              <a:lnSpc>
                <a:spcPts val="1680"/>
              </a:lnSpc>
              <a:buSzPct val="100000"/>
              <a:buChar char="•"/>
            </a:pPr>
            <a:r>
              <a:rPr lang="en-US" sz="144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peek():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View top element without removing</a:t>
            </a:r>
            <a:endParaRPr lang="en-US" sz="1200" dirty="0"/>
          </a:p>
          <a:p>
            <a:pPr marL="342900" indent="-342900">
              <a:lnSpc>
                <a:spcPts val="1680"/>
              </a:lnSpc>
              <a:buSzPct val="100000"/>
              <a:buChar char="•"/>
            </a:pPr>
            <a:r>
              <a:rPr lang="en-US" sz="144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display():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Show all elements top→bottom</a:t>
            </a:r>
            <a:endParaRPr lang="en-US" sz="1200" dirty="0"/>
          </a:p>
          <a:p>
            <a:pPr marL="342900" indent="-342900">
              <a:lnSpc>
                <a:spcPts val="1680"/>
              </a:lnSpc>
              <a:buSzPct val="100000"/>
              <a:buChar char="•"/>
            </a:pPr>
            <a:r>
              <a:rPr lang="en-US" sz="144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isEmpty(), isFull():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Status checks</a:t>
            </a:r>
            <a:endParaRPr lang="en-US" sz="1200" dirty="0"/>
          </a:p>
          <a:p>
            <a:pPr marL="342900" indent="-342900">
              <a:lnSpc>
                <a:spcPts val="1680"/>
              </a:lnSpc>
              <a:buSzPct val="100000"/>
              <a:buChar char="•"/>
            </a:pPr>
            <a:r>
              <a:rPr lang="en-US" sz="144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sizeOfStack():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Current element count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71500" y="24671775"/>
            <a:ext cx="8161020" cy="622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1: Execution Flow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571500" y="25723335"/>
            <a:ext cx="8161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Step-by-Step: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57250" y="25997655"/>
            <a:ext cx="7715250" cy="2774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Enter max stack capacity</a:t>
            </a:r>
            <a:endParaRPr lang="en-US" sz="1200" dirty="0"/>
          </a:p>
          <a:p>
            <a:pPr marL="342900" indent="-342900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Validate: capacity must be ≥ 0</a:t>
            </a:r>
            <a:endParaRPr lang="en-US" sz="1200" dirty="0"/>
          </a:p>
          <a:p>
            <a:pPr marL="342900" indent="-342900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Display menu (A-G operations, Q quit)</a:t>
            </a:r>
            <a:endParaRPr lang="en-US" sz="1200" dirty="0"/>
          </a:p>
          <a:p>
            <a:pPr marL="342900" indent="-342900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Select operation with input validation</a:t>
            </a:r>
            <a:endParaRPr lang="en-US" sz="1200" dirty="0"/>
          </a:p>
          <a:p>
            <a:pPr marL="342900" indent="-342900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Execute function with boundary checks</a:t>
            </a:r>
            <a:endParaRPr lang="en-US" sz="1200" dirty="0"/>
          </a:p>
          <a:p>
            <a:pPr marL="342900" indent="-342900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Loop until 'Q' selected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71500" y="30105788"/>
            <a:ext cx="8161020" cy="622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1: Error Conditions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571500" y="31686698"/>
            <a:ext cx="3934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Errors: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57250" y="31961019"/>
            <a:ext cx="3571875" cy="1001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full → "Cannot push"</a:t>
            </a:r>
            <a:endParaRPr lang="en-US" sz="1200" dirty="0"/>
          </a:p>
          <a:p>
            <a:pPr marL="342900" indent="-342900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Overflow protection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714875" y="31686698"/>
            <a:ext cx="3934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Pop/Peek Errors: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000625" y="31961019"/>
            <a:ext cx="3571875" cy="1001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empty → "Underflow"</a:t>
            </a:r>
            <a:endParaRPr lang="en-US" sz="1200" dirty="0"/>
          </a:p>
          <a:p>
            <a:pPr marL="342900" indent="-342900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Display: "Stack empty"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71500" y="33681949"/>
            <a:ext cx="8161020" cy="329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92"/>
              </a:lnSpc>
              <a:buNone/>
            </a:pPr>
            <a:r>
              <a:rPr lang="en-US" sz="14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operations check boundary conditions before executing</a:t>
            </a:r>
            <a:endParaRPr lang="en-US" sz="1440" dirty="0"/>
          </a:p>
        </p:txBody>
      </p:sp>
      <p:sp>
        <p:nvSpPr>
          <p:cNvPr id="36" name="Text 34"/>
          <p:cNvSpPr/>
          <p:nvPr/>
        </p:nvSpPr>
        <p:spPr>
          <a:xfrm>
            <a:off x="571500" y="35439788"/>
            <a:ext cx="8161020" cy="622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2: Bracket Validation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571500" y="36491347"/>
            <a:ext cx="8161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Does: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857250" y="36765667"/>
            <a:ext cx="7715250" cy="18878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Accepts mathematical expression with brackets</a:t>
            </a:r>
            <a:endParaRPr lang="en-US" sz="1200" dirty="0"/>
          </a:p>
          <a:p>
            <a:pPr marL="342900" indent="-342900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 proper nesting: ( [ { } ] )</a:t>
            </a:r>
            <a:endParaRPr lang="en-US" sz="1200" dirty="0"/>
          </a:p>
          <a:p>
            <a:pPr marL="342900" indent="-342900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Detects unmatched or wrong-order brackets</a:t>
            </a:r>
            <a:endParaRPr lang="en-US" sz="1200" dirty="0"/>
          </a:p>
          <a:p>
            <a:pPr marL="342900" indent="-342900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stack to match opening/closing pairs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71500" y="38796397"/>
            <a:ext cx="8161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 Brackets: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571500" y="39165967"/>
            <a:ext cx="8161020" cy="329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92"/>
              </a:lnSpc>
              <a:buNone/>
            </a:pPr>
            <a:r>
              <a:rPr lang="en-US" sz="14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 ) [ ] { }</a:t>
            </a:r>
            <a:endParaRPr lang="en-US" sz="1440" dirty="0"/>
          </a:p>
        </p:txBody>
      </p:sp>
      <p:sp>
        <p:nvSpPr>
          <p:cNvPr id="41" name="Text 39"/>
          <p:cNvSpPr/>
          <p:nvPr/>
        </p:nvSpPr>
        <p:spPr>
          <a:xfrm>
            <a:off x="571500" y="40923804"/>
            <a:ext cx="8161020" cy="622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2: Validation Algorithm</a:t>
            </a:r>
            <a:endParaRPr lang="en-US" sz="3000" dirty="0"/>
          </a:p>
        </p:txBody>
      </p:sp>
      <p:sp>
        <p:nvSpPr>
          <p:cNvPr id="42" name="Text 40"/>
          <p:cNvSpPr/>
          <p:nvPr/>
        </p:nvSpPr>
        <p:spPr>
          <a:xfrm>
            <a:off x="571500" y="42147055"/>
            <a:ext cx="8161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5-Stage Process: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857250" y="42593061"/>
            <a:ext cx="7715250" cy="2331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80"/>
              </a:lnSpc>
              <a:buSzPct val="100000"/>
              <a:buChar char="•"/>
            </a:pPr>
            <a:r>
              <a:rPr lang="en-US" sz="144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Count brackets: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Extract all brackets only</a:t>
            </a:r>
            <a:endParaRPr lang="en-US" sz="1200" dirty="0"/>
          </a:p>
          <a:p>
            <a:pPr marL="342900" indent="-342900">
              <a:lnSpc>
                <a:spcPts val="1680"/>
              </a:lnSpc>
              <a:buSzPct val="100000"/>
              <a:buChar char="•"/>
            </a:pPr>
            <a:r>
              <a:rPr lang="en-US" sz="144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Even check: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Count must be even (pairs required)</a:t>
            </a:r>
            <a:endParaRPr lang="en-US" sz="1200" dirty="0"/>
          </a:p>
          <a:p>
            <a:pPr marL="342900" indent="-342900">
              <a:lnSpc>
                <a:spcPts val="1680"/>
              </a:lnSpc>
              <a:buSzPct val="100000"/>
              <a:buChar char="•"/>
            </a:pPr>
            <a:r>
              <a:rPr lang="en-US" sz="144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First check: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First bracket must be opening</a:t>
            </a:r>
            <a:endParaRPr lang="en-US" sz="1200" dirty="0"/>
          </a:p>
          <a:p>
            <a:pPr marL="342900" indent="-342900">
              <a:lnSpc>
                <a:spcPts val="1680"/>
              </a:lnSpc>
              <a:buSzPct val="100000"/>
              <a:buChar char="•"/>
            </a:pPr>
            <a:r>
              <a:rPr lang="en-US" sz="144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Last check: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Last bracket must be closing</a:t>
            </a:r>
            <a:endParaRPr lang="en-US" sz="1200" dirty="0"/>
          </a:p>
          <a:p>
            <a:pPr marL="342900" indent="-342900">
              <a:lnSpc>
                <a:spcPts val="1680"/>
              </a:lnSpc>
              <a:buSzPct val="100000"/>
              <a:buChar char="•"/>
            </a:pPr>
            <a:r>
              <a:rPr lang="en-US" sz="144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Stack match: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Push openings, pop matching closings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71500" y="46257804"/>
            <a:ext cx="8161020" cy="622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2: Example Validation</a:t>
            </a:r>
            <a:endParaRPr lang="en-US" sz="3000" dirty="0"/>
          </a:p>
        </p:txBody>
      </p:sp>
      <p:sp>
        <p:nvSpPr>
          <p:cNvPr id="45" name="Text 43"/>
          <p:cNvSpPr/>
          <p:nvPr/>
        </p:nvSpPr>
        <p:spPr>
          <a:xfrm>
            <a:off x="571500" y="47347705"/>
            <a:ext cx="8161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 Expression: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571500" y="47755611"/>
            <a:ext cx="8001000" cy="861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 + [b * {c - d}]) </a:t>
            </a:r>
            <a:endParaRPr lang="en-US" sz="1080" dirty="0"/>
          </a:p>
          <a:p>
            <a:pPr indent="0" marL="0">
              <a:lnSpc>
                <a:spcPts val="1512"/>
              </a:lnSpc>
              <a:buNone/>
            </a:pPr>
            <a:endParaRPr lang="en-US" sz="1080" dirty="0"/>
          </a:p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Brackets: ( [ { } ] ) ✓ Correct!</a:t>
            </a:r>
            <a:endParaRPr lang="en-US" sz="1080" dirty="0"/>
          </a:p>
        </p:txBody>
      </p:sp>
      <p:sp>
        <p:nvSpPr>
          <p:cNvPr id="47" name="Text 45"/>
          <p:cNvSpPr/>
          <p:nvPr/>
        </p:nvSpPr>
        <p:spPr>
          <a:xfrm>
            <a:off x="571500" y="48893611"/>
            <a:ext cx="8161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Invalid Expression: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571500" y="49301521"/>
            <a:ext cx="8001000" cy="861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 + [b * {c - d)]) </a:t>
            </a:r>
            <a:endParaRPr lang="en-US" sz="1080" dirty="0"/>
          </a:p>
          <a:p>
            <a:pPr indent="0" marL="0">
              <a:lnSpc>
                <a:spcPts val="1512"/>
              </a:lnSpc>
              <a:buNone/>
            </a:pPr>
            <a:endParaRPr lang="en-US" sz="1080" dirty="0"/>
          </a:p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Brackets: ( [ { } ) ] ✗ Mismatch!</a:t>
            </a:r>
            <a:endParaRPr lang="en-US" sz="1080" dirty="0"/>
          </a:p>
        </p:txBody>
      </p:sp>
      <p:sp>
        <p:nvSpPr>
          <p:cNvPr id="49" name="Text 47"/>
          <p:cNvSpPr/>
          <p:nvPr/>
        </p:nvSpPr>
        <p:spPr>
          <a:xfrm>
            <a:off x="571500" y="51591804"/>
            <a:ext cx="8161020" cy="622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2: Error Messages</a:t>
            </a:r>
            <a:endParaRPr lang="en-US" sz="3000" dirty="0"/>
          </a:p>
        </p:txBody>
      </p:sp>
      <p:sp>
        <p:nvSpPr>
          <p:cNvPr id="50" name="Text 48"/>
          <p:cNvSpPr/>
          <p:nvPr/>
        </p:nvSpPr>
        <p:spPr>
          <a:xfrm>
            <a:off x="857250" y="53261061"/>
            <a:ext cx="7715250" cy="2331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80"/>
              </a:lnSpc>
              <a:buSzPct val="100000"/>
              <a:buChar char="•"/>
            </a:pPr>
            <a:r>
              <a:rPr lang="en-US" sz="144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"Uneven or zero brackets":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Count not even or zero</a:t>
            </a:r>
            <a:endParaRPr lang="en-US" sz="1200" dirty="0"/>
          </a:p>
          <a:p>
            <a:pPr marL="342900" indent="-342900">
              <a:lnSpc>
                <a:spcPts val="1680"/>
              </a:lnSpc>
              <a:buSzPct val="100000"/>
              <a:buChar char="•"/>
            </a:pPr>
            <a:r>
              <a:rPr lang="en-US" sz="144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"Wrong first index":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Starts with ) ] }</a:t>
            </a:r>
            <a:endParaRPr lang="en-US" sz="1200" dirty="0"/>
          </a:p>
          <a:p>
            <a:pPr marL="342900" indent="-342900">
              <a:lnSpc>
                <a:spcPts val="1680"/>
              </a:lnSpc>
              <a:buSzPct val="100000"/>
              <a:buChar char="•"/>
            </a:pPr>
            <a:r>
              <a:rPr lang="en-US" sz="144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"Wrong last index":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Ends with ( [ {</a:t>
            </a:r>
            <a:endParaRPr lang="en-US" sz="1200" dirty="0"/>
          </a:p>
          <a:p>
            <a:pPr marL="342900" indent="-342900">
              <a:lnSpc>
                <a:spcPts val="1680"/>
              </a:lnSpc>
              <a:buSzPct val="100000"/>
              <a:buChar char="•"/>
            </a:pPr>
            <a:r>
              <a:rPr lang="en-US" sz="144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"Incorrect syntax!":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Mismatched pairs during stack processing</a:t>
            </a:r>
            <a:endParaRPr lang="en-US" sz="1200" dirty="0"/>
          </a:p>
          <a:p>
            <a:pPr marL="342900" indent="-342900">
              <a:lnSpc>
                <a:spcPts val="1680"/>
              </a:lnSpc>
              <a:buSzPct val="100000"/>
              <a:buChar char="•"/>
            </a:pPr>
            <a:r>
              <a:rPr lang="en-US" sz="144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"Correct syntax!":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All brackets properly matched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71500" y="56925804"/>
            <a:ext cx="8161020" cy="622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Data Structure Concepts</a:t>
            </a:r>
            <a:endParaRPr lang="en-US" sz="3000" dirty="0"/>
          </a:p>
        </p:txBody>
      </p:sp>
      <p:sp>
        <p:nvSpPr>
          <p:cNvPr id="52" name="Text 50"/>
          <p:cNvSpPr/>
          <p:nvPr/>
        </p:nvSpPr>
        <p:spPr>
          <a:xfrm>
            <a:off x="571500" y="58764129"/>
            <a:ext cx="3934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Operations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857250" y="59038452"/>
            <a:ext cx="3571875" cy="18878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pointer tracking</a:t>
            </a:r>
            <a:endParaRPr lang="en-US" sz="1200" dirty="0"/>
          </a:p>
          <a:p>
            <a:pPr marL="342900" indent="-342900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Boundary checking</a:t>
            </a:r>
            <a:endParaRPr lang="en-US" sz="1200" dirty="0"/>
          </a:p>
          <a:p>
            <a:pPr marL="342900" indent="-342900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 management</a:t>
            </a:r>
            <a:endParaRPr lang="en-US" sz="1200" dirty="0"/>
          </a:p>
          <a:p>
            <a:pPr marL="342900" indent="-342900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LIFO principle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4714875" y="58764129"/>
            <a:ext cx="3934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Bracket Validation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5000625" y="59038452"/>
            <a:ext cx="3571875" cy="18878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application</a:t>
            </a:r>
            <a:endParaRPr lang="en-US" sz="1200" dirty="0"/>
          </a:p>
          <a:p>
            <a:pPr marL="342900" indent="-342900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matching</a:t>
            </a:r>
            <a:endParaRPr lang="en-US" sz="1200" dirty="0"/>
          </a:p>
          <a:p>
            <a:pPr marL="342900" indent="-342900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Syntax checking</a:t>
            </a:r>
            <a:endParaRPr lang="en-US" sz="1200" dirty="0"/>
          </a:p>
          <a:p>
            <a:pPr marL="342900" indent="-342900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Compiler design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571500" y="62259804"/>
            <a:ext cx="8161020" cy="622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Implemented</a:t>
            </a:r>
            <a:endParaRPr lang="en-US" sz="3000" dirty="0"/>
          </a:p>
        </p:txBody>
      </p:sp>
      <p:sp>
        <p:nvSpPr>
          <p:cNvPr id="57" name="Text 55"/>
          <p:cNvSpPr/>
          <p:nvPr/>
        </p:nvSpPr>
        <p:spPr>
          <a:xfrm>
            <a:off x="571500" y="63311368"/>
            <a:ext cx="8161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1: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857250" y="63585686"/>
            <a:ext cx="7715250" cy="18878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80"/>
              </a:lnSpc>
              <a:buSzPct val="100000"/>
              <a:buChar char="•"/>
            </a:pPr>
            <a:r>
              <a:rPr lang="en-US" sz="144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stack operations (push/pop/peek/display)</a:t>
            </a:r>
            <a:endParaRPr lang="en-US" sz="1200" dirty="0"/>
          </a:p>
          <a:p>
            <a:pPr marL="342900" indent="-342900">
              <a:lnSpc>
                <a:spcPts val="1680"/>
              </a:lnSpc>
              <a:buSzPct val="100000"/>
              <a:buChar char="•"/>
            </a:pPr>
            <a:r>
              <a:rPr lang="en-US" sz="144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Overflow/underflow protection</a:t>
            </a:r>
            <a:endParaRPr lang="en-US" sz="1200" dirty="0"/>
          </a:p>
          <a:p>
            <a:pPr marL="342900" indent="-342900">
              <a:lnSpc>
                <a:spcPts val="1680"/>
              </a:lnSpc>
              <a:buSzPct val="100000"/>
              <a:buChar char="•"/>
            </a:pPr>
            <a:r>
              <a:rPr lang="en-US" sz="144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Menu-driven interface with validation</a:t>
            </a:r>
            <a:endParaRPr lang="en-US" sz="1200" dirty="0"/>
          </a:p>
          <a:p>
            <a:pPr marL="342900" indent="-342900">
              <a:lnSpc>
                <a:spcPts val="1680"/>
              </a:lnSpc>
              <a:buSzPct val="100000"/>
              <a:buChar char="•"/>
            </a:pPr>
            <a:r>
              <a:rPr lang="en-US" sz="144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status checking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571500" y="65616418"/>
            <a:ext cx="8161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2:</a:t>
            </a:r>
            <a:endParaRPr lang="en-US" sz="1800" dirty="0"/>
          </a:p>
        </p:txBody>
      </p:sp>
      <p:sp>
        <p:nvSpPr>
          <p:cNvPr id="60" name="Text 58"/>
          <p:cNvSpPr/>
          <p:nvPr/>
        </p:nvSpPr>
        <p:spPr>
          <a:xfrm>
            <a:off x="857250" y="65890736"/>
            <a:ext cx="7715250" cy="1444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80"/>
              </a:lnSpc>
              <a:buSzPct val="100000"/>
              <a:buChar char="•"/>
            </a:pPr>
            <a:r>
              <a:rPr lang="en-US" sz="144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Multi-bracket support</a:t>
            </a:r>
            <a:endParaRPr lang="en-US" sz="1200" dirty="0"/>
          </a:p>
          <a:p>
            <a:pPr marL="342900" indent="-342900">
              <a:lnSpc>
                <a:spcPts val="1680"/>
              </a:lnSpc>
              <a:buSzPct val="100000"/>
              <a:buChar char="•"/>
            </a:pPr>
            <a:r>
              <a:rPr lang="en-US" sz="144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error detection</a:t>
            </a:r>
            <a:endParaRPr lang="en-US" sz="1200" dirty="0"/>
          </a:p>
          <a:p>
            <a:pPr marL="342900" indent="-342900">
              <a:lnSpc>
                <a:spcPts val="1680"/>
              </a:lnSpc>
              <a:buSzPct val="100000"/>
              <a:buChar char="•"/>
            </a:pPr>
            <a:r>
              <a:rPr lang="en-US" sz="144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Stack-based matching algorithm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571500" y="68668702"/>
            <a:ext cx="8161020" cy="622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Applications</a:t>
            </a:r>
            <a:endParaRPr lang="en-US" sz="3000" dirty="0"/>
          </a:p>
        </p:txBody>
      </p:sp>
      <p:sp>
        <p:nvSpPr>
          <p:cNvPr id="62" name="Text 60"/>
          <p:cNvSpPr/>
          <p:nvPr/>
        </p:nvSpPr>
        <p:spPr>
          <a:xfrm>
            <a:off x="571500" y="69720261"/>
            <a:ext cx="8161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Stacks Used For:</a:t>
            </a:r>
            <a:endParaRPr lang="en-US" sz="1800" dirty="0"/>
          </a:p>
        </p:txBody>
      </p:sp>
      <p:sp>
        <p:nvSpPr>
          <p:cNvPr id="63" name="Text 61"/>
          <p:cNvSpPr/>
          <p:nvPr/>
        </p:nvSpPr>
        <p:spPr>
          <a:xfrm>
            <a:off x="857250" y="69994583"/>
            <a:ext cx="7715250" cy="2774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call management (call stack)</a:t>
            </a:r>
            <a:endParaRPr lang="en-US" sz="1200" dirty="0"/>
          </a:p>
          <a:p>
            <a:pPr marL="342900" indent="-342900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Expression evaluation &amp; parsing</a:t>
            </a:r>
            <a:endParaRPr lang="en-US" sz="1200" dirty="0"/>
          </a:p>
          <a:p>
            <a:pPr marL="342900" indent="-342900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Compiler syntax checking</a:t>
            </a:r>
            <a:endParaRPr lang="en-US" sz="1200" dirty="0"/>
          </a:p>
          <a:p>
            <a:pPr marL="342900" indent="-342900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back button (undo operations)</a:t>
            </a:r>
            <a:endParaRPr lang="en-US" sz="1200" dirty="0"/>
          </a:p>
          <a:p>
            <a:pPr marL="342900" indent="-342900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Depth-first search in algorithms</a:t>
            </a:r>
            <a:endParaRPr lang="en-US" sz="1200" dirty="0"/>
          </a:p>
          <a:p>
            <a:pPr marL="342900" indent="-342900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management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3686312" y="74102714"/>
            <a:ext cx="1771257" cy="622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3000" dirty="0"/>
          </a:p>
        </p:txBody>
      </p:sp>
      <p:sp>
        <p:nvSpPr>
          <p:cNvPr id="65" name="Text 63"/>
          <p:cNvSpPr/>
          <p:nvPr/>
        </p:nvSpPr>
        <p:spPr>
          <a:xfrm>
            <a:off x="1936185" y="75297148"/>
            <a:ext cx="5271631" cy="329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92"/>
              </a:lnSpc>
              <a:buNone/>
            </a:pPr>
            <a:r>
              <a:rPr lang="en-US" sz="14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Takeaways:</a:t>
            </a:r>
            <a:endParaRPr lang="en-US" sz="1440" dirty="0"/>
          </a:p>
        </p:txBody>
      </p:sp>
      <p:sp>
        <p:nvSpPr>
          <p:cNvPr id="66" name="Text 64"/>
          <p:cNvSpPr/>
          <p:nvPr/>
        </p:nvSpPr>
        <p:spPr>
          <a:xfrm>
            <a:off x="1936185" y="75721490"/>
            <a:ext cx="5271631" cy="329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92"/>
              </a:lnSpc>
              <a:buNone/>
            </a:pPr>
            <a:r>
              <a:rPr lang="en-US" sz="14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Stack is fundamental LIFO data structure</a:t>
            </a:r>
            <a:endParaRPr lang="en-US" sz="1440" dirty="0"/>
          </a:p>
        </p:txBody>
      </p:sp>
      <p:sp>
        <p:nvSpPr>
          <p:cNvPr id="67" name="Text 65"/>
          <p:cNvSpPr/>
          <p:nvPr/>
        </p:nvSpPr>
        <p:spPr>
          <a:xfrm>
            <a:off x="1936185" y="76145827"/>
            <a:ext cx="5271631" cy="329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92"/>
              </a:lnSpc>
              <a:buNone/>
            </a:pPr>
            <a:r>
              <a:rPr lang="en-US" sz="14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Proper boundary management prevents crashes</a:t>
            </a:r>
            <a:endParaRPr lang="en-US" sz="1440" dirty="0"/>
          </a:p>
        </p:txBody>
      </p:sp>
      <p:sp>
        <p:nvSpPr>
          <p:cNvPr id="68" name="Text 66"/>
          <p:cNvSpPr/>
          <p:nvPr/>
        </p:nvSpPr>
        <p:spPr>
          <a:xfrm>
            <a:off x="1936185" y="76570168"/>
            <a:ext cx="5271631" cy="329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92"/>
              </a:lnSpc>
              <a:buNone/>
            </a:pPr>
            <a:r>
              <a:rPr lang="en-US" sz="14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Stack solves real-world problems (bracket validation, parsing)</a:t>
            </a:r>
            <a:endParaRPr lang="en-US" sz="1440" dirty="0"/>
          </a:p>
        </p:txBody>
      </p:sp>
      <p:sp>
        <p:nvSpPr>
          <p:cNvPr id="69" name="Text 67"/>
          <p:cNvSpPr/>
          <p:nvPr/>
        </p:nvSpPr>
        <p:spPr>
          <a:xfrm>
            <a:off x="1936185" y="76994505"/>
            <a:ext cx="5271631" cy="329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92"/>
              </a:lnSpc>
              <a:buNone/>
            </a:pPr>
            <a:r>
              <a:rPr lang="en-US" sz="14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Understanding stacks essential for compiler design</a:t>
            </a:r>
            <a:endParaRPr lang="en-US" sz="1440" dirty="0"/>
          </a:p>
        </p:txBody>
      </p:sp>
      <p:sp>
        <p:nvSpPr>
          <p:cNvPr id="70" name="Text 68"/>
          <p:cNvSpPr/>
          <p:nvPr/>
        </p:nvSpPr>
        <p:spPr>
          <a:xfrm>
            <a:off x="3739989" y="77990342"/>
            <a:ext cx="166402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24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2400" dirty="0"/>
          </a:p>
        </p:txBody>
      </p:sp>
      <p:sp>
        <p:nvSpPr>
          <p:cNvPr id="71" name="Text 69"/>
          <p:cNvSpPr/>
          <p:nvPr/>
        </p:nvSpPr>
        <p:spPr>
          <a:xfrm>
            <a:off x="4060843" y="78824733"/>
            <a:ext cx="1022313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8"/>
              </a:lnSpc>
              <a:buNone/>
            </a:pPr>
            <a:r>
              <a:rPr lang="en-US" sz="15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5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2025-12-07T20:56:32Z</dcterms:created>
  <dcterms:modified xsi:type="dcterms:W3CDTF">2025-12-07T20:56:32Z</dcterms:modified>
</cp:coreProperties>
</file>